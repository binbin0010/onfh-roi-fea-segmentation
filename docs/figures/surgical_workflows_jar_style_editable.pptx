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583680" cy="4251960"/>
  <p:notesSz cx="4251960" cy="6583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109728"/>
            <a:ext cx="625449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surgical workflows for hip-preserving ONFH reconstruction</a:t>
            </a:r>
            <a:endParaRPr lang="en-US" sz="920" dirty="0"/>
          </a:p>
        </p:txBody>
      </p:sp>
      <p:sp>
        <p:nvSpPr>
          <p:cNvPr id="3" name="Text 1"/>
          <p:cNvSpPr/>
          <p:nvPr/>
        </p:nvSpPr>
        <p:spPr>
          <a:xfrm>
            <a:off x="164592" y="329184"/>
            <a:ext cx="625449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figure for manuscript use; not to scale</a:t>
            </a:r>
            <a:endParaRPr lang="en-US" sz="560" dirty="0"/>
          </a:p>
        </p:txBody>
      </p:sp>
      <p:sp>
        <p:nvSpPr>
          <p:cNvPr id="4" name="Shape 2"/>
          <p:cNvSpPr/>
          <p:nvPr/>
        </p:nvSpPr>
        <p:spPr>
          <a:xfrm>
            <a:off x="164592" y="566928"/>
            <a:ext cx="6254496" cy="1481328"/>
          </a:xfrm>
          <a:prstGeom prst="roundRect">
            <a:avLst>
              <a:gd name="adj" fmla="val 1852"/>
            </a:avLst>
          </a:prstGeom>
          <a:solidFill>
            <a:srgbClr val="F8FAFB"/>
          </a:solidFill>
          <a:ln w="5080">
            <a:solidFill>
              <a:srgbClr val="E9E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76656"/>
            <a:ext cx="6035040" cy="274320"/>
          </a:xfrm>
          <a:prstGeom prst="roundRect">
            <a:avLst>
              <a:gd name="adj" fmla="val 10000"/>
            </a:avLst>
          </a:prstGeom>
          <a:solidFill>
            <a:srgbClr val="E5F5F4"/>
          </a:solidFill>
          <a:ln w="6985">
            <a:solidFill>
              <a:srgbClr val="008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726948"/>
            <a:ext cx="164592" cy="164592"/>
          </a:xfrm>
          <a:prstGeom prst="ellipse">
            <a:avLst/>
          </a:prstGeom>
          <a:solidFill>
            <a:srgbClr val="008C8C"/>
          </a:solidFill>
          <a:ln w="5080">
            <a:solidFill>
              <a:srgbClr val="00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736092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48640" y="713232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PVIBGT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2139696" y="713232"/>
            <a:ext cx="409651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vascularized iliac flap transfer without intentional hip dislocation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164592" y="2286000"/>
            <a:ext cx="6254496" cy="1481328"/>
          </a:xfrm>
          <a:prstGeom prst="roundRect">
            <a:avLst>
              <a:gd name="adj" fmla="val 1852"/>
            </a:avLst>
          </a:prstGeom>
          <a:solidFill>
            <a:srgbClr val="F8FAFB"/>
          </a:solidFill>
          <a:ln w="5080">
            <a:solidFill>
              <a:srgbClr val="E9E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95728"/>
            <a:ext cx="6035040" cy="274320"/>
          </a:xfrm>
          <a:prstGeom prst="roundRect">
            <a:avLst>
              <a:gd name="adj" fmla="val 10000"/>
            </a:avLst>
          </a:prstGeom>
          <a:solidFill>
            <a:srgbClr val="FFF1DA"/>
          </a:solidFill>
          <a:ln w="6985">
            <a:solidFill>
              <a:srgbClr val="D983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2446020"/>
            <a:ext cx="164592" cy="164592"/>
          </a:xfrm>
          <a:prstGeom prst="ellipse">
            <a:avLst/>
          </a:prstGeom>
          <a:solidFill>
            <a:srgbClr val="D98324"/>
          </a:solidFill>
          <a:ln w="5080">
            <a:solidFill>
              <a:srgbClr val="D983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455164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548640" y="2432304"/>
            <a:ext cx="15544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SHD-IBG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2139696" y="2432304"/>
            <a:ext cx="409651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55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dislocation followed by cancellous impaction bone grafting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329184" y="960120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996696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E5F5F4"/>
          </a:solidFill>
          <a:ln w="2540">
            <a:solidFill>
              <a:srgbClr val="E5F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124712"/>
            <a:ext cx="164592" cy="164592"/>
          </a:xfrm>
          <a:prstGeom prst="ellipse">
            <a:avLst/>
          </a:prstGeom>
          <a:solidFill>
            <a:srgbClr val="008C8C"/>
          </a:solidFill>
          <a:ln w="5080">
            <a:solidFill>
              <a:srgbClr val="00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131113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" dirty="0"/>
          </a:p>
        </p:txBody>
      </p:sp>
      <p:sp>
        <p:nvSpPr>
          <p:cNvPr id="20" name="Shape 18"/>
          <p:cNvSpPr/>
          <p:nvPr/>
        </p:nvSpPr>
        <p:spPr>
          <a:xfrm rot="-1440000">
            <a:off x="768645" y="1226210"/>
            <a:ext cx="266456" cy="23811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">
            <a:off x="700613" y="1288572"/>
            <a:ext cx="260787" cy="215433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0692" y="1373612"/>
            <a:ext cx="124724" cy="102047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9038" y="1401958"/>
            <a:ext cx="45354" cy="34016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1280160"/>
            <a:ext cx="155448" cy="54864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 w="8255">
            <a:solidFill>
              <a:srgbClr val="009E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1280160"/>
            <a:ext cx="173736" cy="82296"/>
          </a:xfrm>
          <a:prstGeom prst="line">
            <a:avLst/>
          </a:prstGeom>
          <a:noFill/>
          <a:ln w="10160">
            <a:solidFill>
              <a:srgbClr val="009E73"/>
            </a:solidFill>
            <a:prstDash val="dash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914400" y="1371600"/>
            <a:ext cx="45720" cy="73152"/>
          </a:xfrm>
          <a:prstGeom prst="line">
            <a:avLst/>
          </a:prstGeom>
          <a:noFill/>
          <a:ln w="10795">
            <a:solidFill>
              <a:srgbClr val="C83E4D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859536" y="1444752"/>
            <a:ext cx="54864" cy="73152"/>
          </a:xfrm>
          <a:prstGeom prst="line">
            <a:avLst/>
          </a:prstGeom>
          <a:noFill/>
          <a:ln w="10795">
            <a:solidFill>
              <a:srgbClr val="C83E4D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49147" y="1360627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427" y="1433779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8563" y="1506931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1618488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1645920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Iliac flap harvest</a:t>
            </a:r>
            <a:endParaRPr lang="en-US" sz="520" dirty="0"/>
          </a:p>
        </p:txBody>
      </p:sp>
      <p:sp>
        <p:nvSpPr>
          <p:cNvPr id="33" name="Shape 31"/>
          <p:cNvSpPr/>
          <p:nvPr/>
        </p:nvSpPr>
        <p:spPr>
          <a:xfrm>
            <a:off x="1691640" y="1417320"/>
            <a:ext cx="100584" cy="0"/>
          </a:xfrm>
          <a:prstGeom prst="line">
            <a:avLst/>
          </a:prstGeom>
          <a:noFill/>
          <a:ln w="1143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28800" y="960120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65376" y="996696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E5F5F4"/>
          </a:solidFill>
          <a:ln w="2540">
            <a:solidFill>
              <a:srgbClr val="E5F5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1096" y="1124712"/>
            <a:ext cx="164592" cy="164592"/>
          </a:xfrm>
          <a:prstGeom prst="ellipse">
            <a:avLst/>
          </a:prstGeom>
          <a:solidFill>
            <a:srgbClr val="008C8C"/>
          </a:solidFill>
          <a:ln w="5080">
            <a:solidFill>
              <a:srgbClr val="008C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1131113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" dirty="0"/>
          </a:p>
        </p:txBody>
      </p:sp>
      <p:sp>
        <p:nvSpPr>
          <p:cNvPr id="38" name="Shape 36"/>
          <p:cNvSpPr/>
          <p:nvPr/>
        </p:nvSpPr>
        <p:spPr>
          <a:xfrm rot="-1440000">
            <a:off x="2335122" y="1221256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1080000">
            <a:off x="2263672" y="1286752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42299" y="1376066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72070" y="1405837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83978" y="1382020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7337" y="1453471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662605" y="1530876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632834" y="1507059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16727" y="1396905"/>
            <a:ext cx="41680" cy="32748"/>
          </a:xfrm>
          <a:prstGeom prst="ellipse">
            <a:avLst/>
          </a:prstGeom>
          <a:solidFill>
            <a:srgbClr val="FCE8DF"/>
          </a:solidFill>
          <a:ln w="5715">
            <a:solidFill>
              <a:srgbClr val="D55E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12848" y="1261872"/>
            <a:ext cx="137160" cy="45720"/>
          </a:xfrm>
          <a:prstGeom prst="roundRect">
            <a:avLst>
              <a:gd name="adj" fmla="val 60000"/>
            </a:avLst>
          </a:prstGeom>
          <a:solidFill>
            <a:srgbClr val="E7F6EF"/>
          </a:solidFill>
          <a:ln w="6985">
            <a:solidFill>
              <a:srgbClr val="009E7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0008" y="1307592"/>
            <a:ext cx="155448" cy="146304"/>
          </a:xfrm>
          <a:prstGeom prst="line">
            <a:avLst/>
          </a:prstGeom>
          <a:noFill/>
          <a:ln w="11430">
            <a:solidFill>
              <a:srgbClr val="009E73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286000" y="1325880"/>
            <a:ext cx="73152" cy="73152"/>
          </a:xfrm>
          <a:prstGeom prst="line">
            <a:avLst/>
          </a:prstGeom>
          <a:noFill/>
          <a:ln w="9525">
            <a:solidFill>
              <a:srgbClr val="C83E4D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2359152" y="1399032"/>
            <a:ext cx="137160" cy="109728"/>
          </a:xfrm>
          <a:prstGeom prst="line">
            <a:avLst/>
          </a:prstGeom>
          <a:noFill/>
          <a:ln w="9525">
            <a:solidFill>
              <a:srgbClr val="C83E4D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275027" y="1314907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48179" y="1388059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85339" y="1497787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01952" y="1618488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38528" y="1645920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Pedicle-preserving transfer</a:t>
            </a:r>
            <a:endParaRPr lang="en-US" sz="520" dirty="0"/>
          </a:p>
        </p:txBody>
      </p:sp>
      <p:sp>
        <p:nvSpPr>
          <p:cNvPr id="56" name="Shape 54"/>
          <p:cNvSpPr/>
          <p:nvPr/>
        </p:nvSpPr>
        <p:spPr>
          <a:xfrm>
            <a:off x="3191256" y="1417320"/>
            <a:ext cx="100584" cy="0"/>
          </a:xfrm>
          <a:prstGeom prst="line">
            <a:avLst/>
          </a:prstGeom>
          <a:noFill/>
          <a:ln w="1143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328416" y="960120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64992" y="996696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E5F5F4"/>
          </a:solidFill>
          <a:ln w="2540">
            <a:solidFill>
              <a:srgbClr val="E5F5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10712" y="1124712"/>
            <a:ext cx="164592" cy="164592"/>
          </a:xfrm>
          <a:prstGeom prst="ellipse">
            <a:avLst/>
          </a:prstGeom>
          <a:solidFill>
            <a:srgbClr val="008C8C"/>
          </a:solidFill>
          <a:ln w="5080">
            <a:solidFill>
              <a:srgbClr val="008C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0712" y="1131113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" dirty="0"/>
          </a:p>
        </p:txBody>
      </p:sp>
      <p:sp>
        <p:nvSpPr>
          <p:cNvPr id="61" name="Shape 59"/>
          <p:cNvSpPr/>
          <p:nvPr/>
        </p:nvSpPr>
        <p:spPr>
          <a:xfrm rot="-1440000">
            <a:off x="3843882" y="1221256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">
            <a:off x="3772432" y="1286752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51059" y="1376066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80830" y="1405837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92738" y="1382020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76097" y="1453471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4171365" y="1530876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4141594" y="1507059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022509" y="1396905"/>
            <a:ext cx="44657" cy="32748"/>
          </a:xfrm>
          <a:prstGeom prst="ellipse">
            <a:avLst/>
          </a:prstGeom>
          <a:solidFill>
            <a:srgbClr val="FFFFFF"/>
          </a:solidFill>
          <a:ln w="8255">
            <a:solidFill>
              <a:srgbClr val="D55E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4005072" y="1307592"/>
            <a:ext cx="82296" cy="146304"/>
          </a:xfrm>
          <a:prstGeom prst="line">
            <a:avLst/>
          </a:prstGeom>
          <a:noFill/>
          <a:ln w="15875">
            <a:solidFill>
              <a:srgbClr val="1F2933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4059936" y="1271016"/>
            <a:ext cx="54864" cy="36576"/>
          </a:xfrm>
          <a:prstGeom prst="ellipse">
            <a:avLst/>
          </a:prstGeom>
          <a:solidFill>
            <a:srgbClr val="FFFFFF"/>
          </a:solidFill>
          <a:ln w="5715">
            <a:solidFill>
              <a:srgbClr val="1F29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01568" y="1618488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38144" y="1645920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Debridement with reduced hip</a:t>
            </a:r>
            <a:endParaRPr lang="en-US" sz="520" dirty="0"/>
          </a:p>
        </p:txBody>
      </p:sp>
      <p:sp>
        <p:nvSpPr>
          <p:cNvPr id="74" name="Shape 72"/>
          <p:cNvSpPr/>
          <p:nvPr/>
        </p:nvSpPr>
        <p:spPr>
          <a:xfrm>
            <a:off x="4690872" y="1417320"/>
            <a:ext cx="100584" cy="0"/>
          </a:xfrm>
          <a:prstGeom prst="line">
            <a:avLst/>
          </a:prstGeom>
          <a:noFill/>
          <a:ln w="1143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828032" y="960120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64608" y="996696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E5F5F4"/>
          </a:solidFill>
          <a:ln w="2540">
            <a:solidFill>
              <a:srgbClr val="E5F5F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10328" y="1124712"/>
            <a:ext cx="164592" cy="164592"/>
          </a:xfrm>
          <a:prstGeom prst="ellipse">
            <a:avLst/>
          </a:prstGeom>
          <a:solidFill>
            <a:srgbClr val="008C8C"/>
          </a:solidFill>
          <a:ln w="5080">
            <a:solidFill>
              <a:srgbClr val="008C8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10328" y="1131113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" dirty="0"/>
          </a:p>
        </p:txBody>
      </p:sp>
      <p:sp>
        <p:nvSpPr>
          <p:cNvPr id="79" name="Shape 77"/>
          <p:cNvSpPr/>
          <p:nvPr/>
        </p:nvSpPr>
        <p:spPr>
          <a:xfrm rot="-1440000">
            <a:off x="5343498" y="1221256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080000">
            <a:off x="5272048" y="1286752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50675" y="1376066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80446" y="1405837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92354" y="1382020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75713" y="1453471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5670981" y="1530876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5641210" y="1507059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520339" y="1395715"/>
            <a:ext cx="49420" cy="35725"/>
          </a:xfrm>
          <a:prstGeom prst="ellipse">
            <a:avLst/>
          </a:prstGeom>
          <a:solidFill>
            <a:srgbClr val="E7F6EF"/>
          </a:solidFill>
          <a:ln w="8255">
            <a:solidFill>
              <a:srgbClr val="009E7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303520" y="1316736"/>
            <a:ext cx="91440" cy="82296"/>
          </a:xfrm>
          <a:prstGeom prst="line">
            <a:avLst/>
          </a:prstGeom>
          <a:noFill/>
          <a:ln w="10160">
            <a:solidFill>
              <a:srgbClr val="C83E4D"/>
            </a:solidFill>
            <a:prstDash val="solid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5394960" y="1399032"/>
            <a:ext cx="109728" cy="109728"/>
          </a:xfrm>
          <a:prstGeom prst="line">
            <a:avLst/>
          </a:prstGeom>
          <a:noFill/>
          <a:ln w="10160">
            <a:solidFill>
              <a:srgbClr val="C83E4D"/>
            </a:solidFill>
            <a:prstDash val="solid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5292547" y="1305763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383987" y="1388059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493715" y="1497787"/>
            <a:ext cx="21946" cy="21946"/>
          </a:xfrm>
          <a:prstGeom prst="ellipse">
            <a:avLst/>
          </a:prstGeom>
          <a:solidFill>
            <a:srgbClr val="C83E4D"/>
          </a:solidFill>
          <a:ln w="2540">
            <a:solidFill>
              <a:srgbClr val="C83E4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513832" y="1499616"/>
            <a:ext cx="54864" cy="45720"/>
          </a:xfrm>
          <a:prstGeom prst="line">
            <a:avLst/>
          </a:prstGeom>
          <a:noFill/>
          <a:ln w="11430">
            <a:solidFill>
              <a:srgbClr val="009E73"/>
            </a:solidFill>
            <a:prstDash val="solid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4901184" y="1618488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37760" y="1645920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Vascularized flap implantation</a:t>
            </a:r>
            <a:endParaRPr lang="en-US" sz="520" dirty="0"/>
          </a:p>
        </p:txBody>
      </p:sp>
      <p:sp>
        <p:nvSpPr>
          <p:cNvPr id="96" name="Shape 94"/>
          <p:cNvSpPr/>
          <p:nvPr/>
        </p:nvSpPr>
        <p:spPr>
          <a:xfrm>
            <a:off x="329184" y="2679192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65760" y="2715768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FFF1DA"/>
          </a:solidFill>
          <a:ln w="2540">
            <a:solidFill>
              <a:srgbClr val="FFF1D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1480" y="2843784"/>
            <a:ext cx="164592" cy="164592"/>
          </a:xfrm>
          <a:prstGeom prst="ellipse">
            <a:avLst/>
          </a:prstGeom>
          <a:solidFill>
            <a:srgbClr val="D98324"/>
          </a:solidFill>
          <a:ln w="5080">
            <a:solidFill>
              <a:srgbClr val="D9832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11480" y="2850185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 rot="-1440000">
            <a:off x="844650" y="2940328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1080000">
            <a:off x="773200" y="3005824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51827" y="3095138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1598" y="3124909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3506" y="3101092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76865" y="3172543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172133" y="3249948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142362" y="3226131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6255" y="3115977"/>
            <a:ext cx="41680" cy="32748"/>
          </a:xfrm>
          <a:prstGeom prst="ellipse">
            <a:avLst/>
          </a:prstGeom>
          <a:solidFill>
            <a:srgbClr val="FCE8DF"/>
          </a:solidFill>
          <a:ln w="5715">
            <a:solidFill>
              <a:srgbClr val="D55E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1060704" y="3163824"/>
            <a:ext cx="82296" cy="73152"/>
          </a:xfrm>
          <a:prstGeom prst="line">
            <a:avLst/>
          </a:prstGeom>
          <a:noFill/>
          <a:ln w="13970">
            <a:solidFill>
              <a:srgbClr val="D98324"/>
            </a:solidFill>
            <a:prstDash val="dash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1115568" y="3154680"/>
            <a:ext cx="64008" cy="45720"/>
          </a:xfrm>
          <a:prstGeom prst="roundRect">
            <a:avLst>
              <a:gd name="adj" fmla="val 60000"/>
            </a:avLst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50392" y="3300984"/>
            <a:ext cx="19202" cy="15545"/>
          </a:xfrm>
          <a:prstGeom prst="ellipse">
            <a:avLst/>
          </a:prstGeom>
          <a:solidFill>
            <a:srgbClr val="FFF1DA"/>
          </a:solidFill>
          <a:ln w="3810">
            <a:solidFill>
              <a:srgbClr val="D9832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86968" y="3310128"/>
            <a:ext cx="17374" cy="14630"/>
          </a:xfrm>
          <a:prstGeom prst="ellipse">
            <a:avLst/>
          </a:prstGeom>
          <a:solidFill>
            <a:srgbClr val="FFF1DA"/>
          </a:solidFill>
          <a:ln w="3810">
            <a:solidFill>
              <a:srgbClr val="D9832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3544" y="3300984"/>
            <a:ext cx="18288" cy="15545"/>
          </a:xfrm>
          <a:prstGeom prst="ellipse">
            <a:avLst/>
          </a:prstGeom>
          <a:solidFill>
            <a:srgbClr val="FFF1DA"/>
          </a:solidFill>
          <a:ln w="3810">
            <a:solidFill>
              <a:srgbClr val="D9832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02336" y="3337560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38912" y="3364992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Trochanteric osteotomy + graft harvest</a:t>
            </a:r>
            <a:endParaRPr lang="en-US" sz="520" dirty="0"/>
          </a:p>
        </p:txBody>
      </p:sp>
      <p:sp>
        <p:nvSpPr>
          <p:cNvPr id="116" name="Shape 114"/>
          <p:cNvSpPr/>
          <p:nvPr/>
        </p:nvSpPr>
        <p:spPr>
          <a:xfrm>
            <a:off x="1691640" y="3136392"/>
            <a:ext cx="100584" cy="0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1828800" y="2679192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865376" y="2715768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FFF1DA"/>
          </a:solidFill>
          <a:ln w="2540">
            <a:solidFill>
              <a:srgbClr val="FFF1D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911096" y="2843784"/>
            <a:ext cx="164592" cy="164592"/>
          </a:xfrm>
          <a:prstGeom prst="ellipse">
            <a:avLst/>
          </a:prstGeom>
          <a:solidFill>
            <a:srgbClr val="D98324"/>
          </a:solidFill>
          <a:ln w="5080">
            <a:solidFill>
              <a:srgbClr val="D9832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911096" y="2850185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" dirty="0"/>
          </a:p>
        </p:txBody>
      </p:sp>
      <p:sp>
        <p:nvSpPr>
          <p:cNvPr id="121" name="Shape 119"/>
          <p:cNvSpPr/>
          <p:nvPr/>
        </p:nvSpPr>
        <p:spPr>
          <a:xfrm rot="-1440000">
            <a:off x="2238153" y="2940328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1080000">
            <a:off x="2166703" y="3005824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345330" y="3095138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375101" y="3124909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547774" y="3130863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631133" y="3202314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2726401" y="3279719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2696629" y="3255902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580522" y="3145749"/>
            <a:ext cx="41680" cy="32748"/>
          </a:xfrm>
          <a:prstGeom prst="ellipse">
            <a:avLst/>
          </a:prstGeom>
          <a:solidFill>
            <a:srgbClr val="FCE8DF"/>
          </a:solidFill>
          <a:ln w="5715">
            <a:solidFill>
              <a:srgbClr val="D55E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600000">
            <a:off x="2404872" y="3023687"/>
            <a:ext cx="130993" cy="119085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D98324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H="1" flipV="1">
            <a:off x="2357238" y="3071321"/>
            <a:ext cx="71451" cy="35725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1901952" y="3337560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938528" y="3364992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hip dislocation</a:t>
            </a:r>
            <a:endParaRPr lang="en-US" sz="520" dirty="0"/>
          </a:p>
        </p:txBody>
      </p:sp>
      <p:sp>
        <p:nvSpPr>
          <p:cNvPr id="134" name="Shape 132"/>
          <p:cNvSpPr/>
          <p:nvPr/>
        </p:nvSpPr>
        <p:spPr>
          <a:xfrm>
            <a:off x="3191256" y="3136392"/>
            <a:ext cx="100584" cy="0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3328416" y="2679192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364992" y="2715768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FFF1DA"/>
          </a:solidFill>
          <a:ln w="2540">
            <a:solidFill>
              <a:srgbClr val="FFF1D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410712" y="2843784"/>
            <a:ext cx="164592" cy="164592"/>
          </a:xfrm>
          <a:prstGeom prst="ellipse">
            <a:avLst/>
          </a:prstGeom>
          <a:solidFill>
            <a:srgbClr val="D98324"/>
          </a:solidFill>
          <a:ln w="5080">
            <a:solidFill>
              <a:srgbClr val="D9832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10712" y="2850185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" dirty="0"/>
          </a:p>
        </p:txBody>
      </p:sp>
      <p:sp>
        <p:nvSpPr>
          <p:cNvPr id="139" name="Shape 137"/>
          <p:cNvSpPr/>
          <p:nvPr/>
        </p:nvSpPr>
        <p:spPr>
          <a:xfrm rot="-1440000">
            <a:off x="3737769" y="2940328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1080000">
            <a:off x="3666319" y="3005824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844946" y="3095138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874717" y="3124909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047390" y="3130863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130749" y="3202314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4226017" y="3279719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4196245" y="3255902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077161" y="3145749"/>
            <a:ext cx="44657" cy="32748"/>
          </a:xfrm>
          <a:prstGeom prst="ellipse">
            <a:avLst/>
          </a:prstGeom>
          <a:solidFill>
            <a:srgbClr val="FFFFFF"/>
          </a:solidFill>
          <a:ln w="8255">
            <a:solidFill>
              <a:srgbClr val="D55E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600000">
            <a:off x="3904488" y="3023687"/>
            <a:ext cx="130993" cy="119085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D98324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H="1" flipV="1">
            <a:off x="3856854" y="3071321"/>
            <a:ext cx="71451" cy="35725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 flipH="1">
            <a:off x="4050792" y="3017520"/>
            <a:ext cx="73152" cy="146304"/>
          </a:xfrm>
          <a:prstGeom prst="line">
            <a:avLst/>
          </a:prstGeom>
          <a:noFill/>
          <a:ln w="15875">
            <a:solidFill>
              <a:srgbClr val="1F2933"/>
            </a:solidFill>
            <a:prstDash val="solid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4096512" y="2980944"/>
            <a:ext cx="54864" cy="36576"/>
          </a:xfrm>
          <a:prstGeom prst="ellipse">
            <a:avLst/>
          </a:prstGeom>
          <a:solidFill>
            <a:srgbClr val="FFFFFF"/>
          </a:solidFill>
          <a:ln w="5715">
            <a:solidFill>
              <a:srgbClr val="1F29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401568" y="3337560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438144" y="3364992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Necrotic bone removal</a:t>
            </a:r>
            <a:endParaRPr lang="en-US" sz="520" dirty="0"/>
          </a:p>
        </p:txBody>
      </p:sp>
      <p:sp>
        <p:nvSpPr>
          <p:cNvPr id="154" name="Shape 152"/>
          <p:cNvSpPr/>
          <p:nvPr/>
        </p:nvSpPr>
        <p:spPr>
          <a:xfrm>
            <a:off x="4690872" y="3136392"/>
            <a:ext cx="100584" cy="0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55" name="Shape 153"/>
          <p:cNvSpPr/>
          <p:nvPr/>
        </p:nvSpPr>
        <p:spPr>
          <a:xfrm>
            <a:off x="4828032" y="2679192"/>
            <a:ext cx="133502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985">
            <a:solidFill>
              <a:srgbClr val="C6D0D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864608" y="2715768"/>
            <a:ext cx="1261872" cy="73152"/>
          </a:xfrm>
          <a:prstGeom prst="roundRect">
            <a:avLst>
              <a:gd name="adj" fmla="val 37500"/>
            </a:avLst>
          </a:prstGeom>
          <a:solidFill>
            <a:srgbClr val="FFF1DA"/>
          </a:solidFill>
          <a:ln w="2540">
            <a:solidFill>
              <a:srgbClr val="FFF1D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910328" y="2843784"/>
            <a:ext cx="164592" cy="164592"/>
          </a:xfrm>
          <a:prstGeom prst="ellipse">
            <a:avLst/>
          </a:prstGeom>
          <a:solidFill>
            <a:srgbClr val="D98324"/>
          </a:solidFill>
          <a:ln w="5080">
            <a:solidFill>
              <a:srgbClr val="D98324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910328" y="2850185"/>
            <a:ext cx="164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" dirty="0"/>
          </a:p>
        </p:txBody>
      </p:sp>
      <p:sp>
        <p:nvSpPr>
          <p:cNvPr id="159" name="Shape 157"/>
          <p:cNvSpPr/>
          <p:nvPr/>
        </p:nvSpPr>
        <p:spPr>
          <a:xfrm rot="-1440000">
            <a:off x="5237385" y="2940328"/>
            <a:ext cx="279849" cy="250078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A67C5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1080000">
            <a:off x="5165935" y="3005824"/>
            <a:ext cx="273895" cy="226261"/>
          </a:xfrm>
          <a:prstGeom prst="arc">
            <a:avLst/>
          </a:prstGeom>
          <a:solidFill>
            <a:srgbClr val="FFFFFF">
              <a:alpha val="0"/>
            </a:srgbClr>
          </a:solidFill>
          <a:ln w="10160">
            <a:solidFill>
              <a:srgbClr val="A67C5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344562" y="3095138"/>
            <a:ext cx="130993" cy="107176"/>
          </a:xfrm>
          <a:prstGeom prst="ellipse">
            <a:avLst/>
          </a:prstGeom>
          <a:solidFill>
            <a:srgbClr val="FFFFFF"/>
          </a:solidFill>
          <a:ln w="10795">
            <a:solidFill>
              <a:srgbClr val="A67C5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374333" y="3124909"/>
            <a:ext cx="47634" cy="35725"/>
          </a:xfrm>
          <a:prstGeom prst="ellipse">
            <a:avLst/>
          </a:prstGeom>
          <a:solidFill>
            <a:srgbClr val="C9E7EF"/>
          </a:solidFill>
          <a:ln w="2540">
            <a:solidFill>
              <a:srgbClr val="C9E7E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47006" y="3130863"/>
            <a:ext cx="107176" cy="107176"/>
          </a:xfrm>
          <a:prstGeom prst="ellipse">
            <a:avLst/>
          </a:prstGeom>
          <a:solidFill>
            <a:srgbClr val="F6D7B0"/>
          </a:solidFill>
          <a:ln w="9525">
            <a:solidFill>
              <a:srgbClr val="A67C5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630365" y="3202314"/>
            <a:ext cx="130993" cy="95268"/>
          </a:xfrm>
          <a:prstGeom prst="line">
            <a:avLst/>
          </a:prstGeom>
          <a:noFill/>
          <a:ln w="40640">
            <a:solidFill>
              <a:srgbClr val="A67C52"/>
            </a:solidFill>
            <a:prstDash val="solid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5725633" y="3279719"/>
            <a:ext cx="23817" cy="160764"/>
          </a:xfrm>
          <a:prstGeom prst="line">
            <a:avLst/>
          </a:prstGeom>
          <a:noFill/>
          <a:ln w="68580">
            <a:solidFill>
              <a:srgbClr val="A67C52"/>
            </a:solidFill>
            <a:prstDash val="solid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5695861" y="3255902"/>
            <a:ext cx="71451" cy="89313"/>
          </a:xfrm>
          <a:prstGeom prst="ellipse">
            <a:avLst/>
          </a:prstGeom>
          <a:solidFill>
            <a:srgbClr val="F6D7B0"/>
          </a:solidFill>
          <a:ln w="7620">
            <a:solidFill>
              <a:srgbClr val="A67C5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577968" y="3145749"/>
            <a:ext cx="10122" cy="8336"/>
          </a:xfrm>
          <a:prstGeom prst="ellipse">
            <a:avLst/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586899" y="3145749"/>
            <a:ext cx="10122" cy="8336"/>
          </a:xfrm>
          <a:prstGeom prst="ellipse">
            <a:avLst/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95830" y="3145749"/>
            <a:ext cx="10122" cy="8336"/>
          </a:xfrm>
          <a:prstGeom prst="ellipse">
            <a:avLst/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77968" y="3156466"/>
            <a:ext cx="10122" cy="8336"/>
          </a:xfrm>
          <a:prstGeom prst="ellipse">
            <a:avLst/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586899" y="3156466"/>
            <a:ext cx="10122" cy="8336"/>
          </a:xfrm>
          <a:prstGeom prst="ellipse">
            <a:avLst/>
          </a:prstGeom>
          <a:solidFill>
            <a:srgbClr val="FFF1DA"/>
          </a:solidFill>
          <a:ln w="4445">
            <a:solidFill>
              <a:srgbClr val="D9832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600000">
            <a:off x="5404104" y="3023687"/>
            <a:ext cx="130993" cy="119085"/>
          </a:xfrm>
          <a:prstGeom prst="arc">
            <a:avLst/>
          </a:prstGeom>
          <a:solidFill>
            <a:srgbClr val="FFFFFF">
              <a:alpha val="0"/>
            </a:srgbClr>
          </a:solidFill>
          <a:ln w="11430">
            <a:solidFill>
              <a:srgbClr val="D98324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 flipH="1" flipV="1">
            <a:off x="5356470" y="3071321"/>
            <a:ext cx="71451" cy="35725"/>
          </a:xfrm>
          <a:prstGeom prst="line">
            <a:avLst/>
          </a:prstGeom>
          <a:noFill/>
          <a:ln w="1143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 flipH="1">
            <a:off x="5532120" y="3081528"/>
            <a:ext cx="73152" cy="100584"/>
          </a:xfrm>
          <a:prstGeom prst="line">
            <a:avLst/>
          </a:prstGeom>
          <a:noFill/>
          <a:ln w="12700">
            <a:solidFill>
              <a:srgbClr val="D98324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5568696" y="3282696"/>
            <a:ext cx="100584" cy="36576"/>
          </a:xfrm>
          <a:prstGeom prst="line">
            <a:avLst/>
          </a:prstGeom>
          <a:noFill/>
          <a:ln w="8890">
            <a:solidFill>
              <a:srgbClr val="1F2933"/>
            </a:solidFill>
            <a:prstDash val="solid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5568696" y="3328416"/>
            <a:ext cx="100584" cy="36576"/>
          </a:xfrm>
          <a:prstGeom prst="line">
            <a:avLst/>
          </a:prstGeom>
          <a:noFill/>
          <a:ln w="8890">
            <a:solidFill>
              <a:srgbClr val="1F2933"/>
            </a:solidFill>
            <a:prstDash val="solid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4901184" y="3337560"/>
            <a:ext cx="1188720" cy="210312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937760" y="3364992"/>
            <a:ext cx="11155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Impaction grafting + fixation</a:t>
            </a:r>
            <a:endParaRPr lang="en-US" sz="520" dirty="0"/>
          </a:p>
        </p:txBody>
      </p:sp>
      <p:sp>
        <p:nvSpPr>
          <p:cNvPr id="179" name="Shape 177"/>
          <p:cNvSpPr/>
          <p:nvPr/>
        </p:nvSpPr>
        <p:spPr>
          <a:xfrm>
            <a:off x="274320" y="3886200"/>
            <a:ext cx="603504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4445">
            <a:solidFill>
              <a:srgbClr val="E9EEF2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65760" y="3931920"/>
            <a:ext cx="5852160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5E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distinction: PVIBGT emphasizes pedicle perfusion and structural iliac support; SHD-IBG emphasizes open exposure, lesion clearance and mechanically packed cancellous graft support.</a:t>
            </a:r>
            <a:endParaRPr lang="en-US" sz="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ONFH ROI-FEA research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Schematic comparison of PVIBGT and SHD-IBG</dc:title>
  <dc:subject>PVIBGT and SHD-IBG schematic workflows for ONFH</dc:subject>
  <dc:creator>Shanbin Zheng; Xin Liu; Jirong Shen; Tianwei Xia</dc:creator>
  <cp:lastModifiedBy>Shanbin Zheng; Xin Liu; Jirong Shen; Tianwei Xia</cp:lastModifiedBy>
  <cp:revision>1</cp:revision>
  <dcterms:created xsi:type="dcterms:W3CDTF">2026-06-26T08:58:54Z</dcterms:created>
  <dcterms:modified xsi:type="dcterms:W3CDTF">2026-06-26T08:58:54Z</dcterms:modified>
</cp:coreProperties>
</file>