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492875" cy="4160838"/>
  <p:notesSz cx="4160838" cy="64928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32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91440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Anatomy-adaptive, expert-reviewed ONFH ROI workflow (V3.1 research)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64592" y="484632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E7F2F8"/>
          </a:solidFill>
          <a:ln w="10160">
            <a:solidFill>
              <a:srgbClr val="0072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21208"/>
            <a:ext cx="27432" cy="1344168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576072"/>
            <a:ext cx="201168" cy="20116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8521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21208" y="56692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+ head mask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38328" y="1228039"/>
            <a:ext cx="54681" cy="105156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711" y="1143914"/>
            <a:ext cx="54681" cy="189281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093" y="1007212"/>
            <a:ext cx="54681" cy="325984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6476" y="1101852"/>
            <a:ext cx="54681" cy="231343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858" y="1196492"/>
            <a:ext cx="54681" cy="136703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1325880"/>
            <a:ext cx="316017" cy="3160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80000">
            <a:off x="633131" y="1352215"/>
            <a:ext cx="256764" cy="256764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923544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→ real HU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TotalSegmentator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Affected-side head extraction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2276856" y="484632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E4F4EE"/>
          </a:solidFill>
          <a:ln w="10160">
            <a:solidFill>
              <a:srgbClr val="009E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76856" y="521208"/>
            <a:ext cx="27432" cy="1344168"/>
          </a:xfrm>
          <a:prstGeom prst="rect">
            <a:avLst/>
          </a:prstGeom>
          <a:solidFill>
            <a:srgbClr val="009E73"/>
          </a:solidFill>
          <a:ln w="12700">
            <a:solidFill>
              <a:srgbClr val="009E7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8296" y="576072"/>
            <a:ext cx="201168" cy="201168"/>
          </a:xfrm>
          <a:prstGeom prst="ellipse">
            <a:avLst/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8296" y="58521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633472" y="56692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 geometry + priors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450592" y="987552"/>
            <a:ext cx="504749" cy="504749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80000">
            <a:off x="2497912" y="1029614"/>
            <a:ext cx="410108" cy="410108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670048" y="1024128"/>
            <a:ext cx="201168" cy="201168"/>
          </a:xfrm>
          <a:prstGeom prst="line">
            <a:avLst/>
          </a:prstGeom>
          <a:noFill/>
          <a:ln w="11430">
            <a:solidFill>
              <a:srgbClr val="6A5ACD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035808" y="923544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center and radius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Subchondral distance / radial depth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Anterosuperior weight-bearing zone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4389120" y="484632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FFF3D2"/>
          </a:solidFill>
          <a:ln w="10160">
            <a:solidFill>
              <a:srgbClr val="E69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521208"/>
            <a:ext cx="27432" cy="134416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576072"/>
            <a:ext cx="201168" cy="201168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58521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745736" y="56692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Patient-adaptive evidence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53712" y="1239012"/>
            <a:ext cx="59436" cy="114300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50867" y="1147572"/>
            <a:ext cx="59436" cy="205740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8022" y="998982"/>
            <a:ext cx="59436" cy="354330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5177" y="1101852"/>
            <a:ext cx="59436" cy="251460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42332" y="1204722"/>
            <a:ext cx="59436" cy="148590"/>
          </a:xfrm>
          <a:prstGeom prst="rect">
            <a:avLst/>
          </a:prstGeom>
          <a:solidFill>
            <a:srgbClr val="007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1335024"/>
            <a:ext cx="342351" cy="342351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480000">
            <a:off x="4713823" y="1363553"/>
            <a:ext cx="278160" cy="278160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900000">
            <a:off x="4810110" y="1384950"/>
            <a:ext cx="128382" cy="92720"/>
          </a:xfrm>
          <a:prstGeom prst="ellipse">
            <a:avLst/>
          </a:prstGeom>
          <a:solidFill>
            <a:srgbClr val="D55E00">
              <a:alpha val="85000"/>
            </a:srgbClr>
          </a:solidFill>
          <a:ln w="6350">
            <a:solidFill>
              <a:srgbClr val="D55E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480000">
            <a:off x="4767316" y="1349289"/>
            <a:ext cx="221102" cy="178308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9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923544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Cancellous reference: -100 to 600 HU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P20 low-density core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 sclerotic rim</a:t>
            </a:r>
            <a:endParaRPr lang="en-US" sz="630" dirty="0"/>
          </a:p>
        </p:txBody>
      </p:sp>
      <p:sp>
        <p:nvSpPr>
          <p:cNvPr id="40" name="Shape 38"/>
          <p:cNvSpPr/>
          <p:nvPr/>
        </p:nvSpPr>
        <p:spPr>
          <a:xfrm>
            <a:off x="164592" y="2029968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E4F4EE"/>
          </a:solidFill>
          <a:ln w="10160">
            <a:solidFill>
              <a:srgbClr val="009E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2066544"/>
            <a:ext cx="27432" cy="1344168"/>
          </a:xfrm>
          <a:prstGeom prst="rect">
            <a:avLst/>
          </a:prstGeom>
          <a:solidFill>
            <a:srgbClr val="009E73"/>
          </a:solidFill>
          <a:ln w="12700">
            <a:solidFill>
              <a:srgbClr val="009E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2121408"/>
            <a:ext cx="201168" cy="201168"/>
          </a:xfrm>
          <a:prstGeom prst="ellipse">
            <a:avLst/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213055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21208" y="2112264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features + export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38328" y="2532888"/>
            <a:ext cx="460858" cy="460858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480000">
            <a:off x="381533" y="2571293"/>
            <a:ext cx="374447" cy="374447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900000">
            <a:off x="511150" y="2600096"/>
            <a:ext cx="172822" cy="124816"/>
          </a:xfrm>
          <a:prstGeom prst="ellipse">
            <a:avLst/>
          </a:prstGeom>
          <a:solidFill>
            <a:srgbClr val="D55E00">
              <a:alpha val="85000"/>
            </a:srgbClr>
          </a:solidFill>
          <a:ln w="6350">
            <a:solidFill>
              <a:srgbClr val="D55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480000">
            <a:off x="453542" y="2552090"/>
            <a:ext cx="297637" cy="24003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9F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23544" y="2468880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Kerboul-like angle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Subchondral / weight-bearing involvement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feature score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+ JSON/CSV → FEA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2276856" y="2029968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FFF3D2"/>
          </a:solidFill>
          <a:ln w="10160">
            <a:solidFill>
              <a:srgbClr val="E69F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76856" y="2066544"/>
            <a:ext cx="27432" cy="134416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68296" y="2121408"/>
            <a:ext cx="201168" cy="201168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68296" y="213055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633472" y="2112264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Morphology + QC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2450592" y="2532888"/>
            <a:ext cx="474025" cy="4740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480000">
            <a:off x="2495032" y="2572390"/>
            <a:ext cx="385145" cy="385145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900000">
            <a:off x="2628351" y="2602017"/>
            <a:ext cx="177759" cy="128382"/>
          </a:xfrm>
          <a:prstGeom prst="ellipse">
            <a:avLst/>
          </a:prstGeom>
          <a:solidFill>
            <a:srgbClr val="D55E00">
              <a:alpha val="85000"/>
            </a:srgbClr>
          </a:solidFill>
          <a:ln w="6350">
            <a:solidFill>
              <a:srgbClr val="D55E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480000">
            <a:off x="2569098" y="2552639"/>
            <a:ext cx="306141" cy="246888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9F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98064" y="2880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035808" y="2468880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Connectivity, small components and hole filling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Leakage, fragments and empty-ROI checks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 and correction</a:t>
            </a:r>
            <a:endParaRPr lang="en-US" sz="630" dirty="0"/>
          </a:p>
        </p:txBody>
      </p:sp>
      <p:sp>
        <p:nvSpPr>
          <p:cNvPr id="62" name="Shape 60"/>
          <p:cNvSpPr/>
          <p:nvPr/>
        </p:nvSpPr>
        <p:spPr>
          <a:xfrm>
            <a:off x="4389120" y="2029968"/>
            <a:ext cx="1938528" cy="1417320"/>
          </a:xfrm>
          <a:prstGeom prst="roundRect">
            <a:avLst>
              <a:gd name="adj" fmla="val 1613"/>
            </a:avLst>
          </a:prstGeom>
          <a:solidFill>
            <a:srgbClr val="EEEAF8"/>
          </a:solidFill>
          <a:ln w="10160">
            <a:solidFill>
              <a:srgbClr val="6A5AC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0" y="2066544"/>
            <a:ext cx="27432" cy="1344168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80560" y="2121408"/>
            <a:ext cx="201168" cy="201168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80560" y="213055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4745736" y="2112264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region growing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562856" y="2532888"/>
            <a:ext cx="460858" cy="460858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25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480000">
            <a:off x="4606061" y="2571293"/>
            <a:ext cx="374447" cy="374447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009E7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900000">
            <a:off x="4735678" y="2600096"/>
            <a:ext cx="172822" cy="124816"/>
          </a:xfrm>
          <a:prstGeom prst="ellipse">
            <a:avLst/>
          </a:prstGeom>
          <a:solidFill>
            <a:srgbClr val="D55E00">
              <a:alpha val="85000"/>
            </a:srgbClr>
          </a:solidFill>
          <a:ln w="6350">
            <a:solidFill>
              <a:srgbClr val="D55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480000">
            <a:off x="4678070" y="2552090"/>
            <a:ext cx="297637" cy="24003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9F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90288" y="3026664"/>
            <a:ext cx="429768" cy="0"/>
          </a:xfrm>
          <a:prstGeom prst="line">
            <a:avLst/>
          </a:prstGeom>
          <a:noFill/>
          <a:ln w="11430">
            <a:solidFill>
              <a:srgbClr val="6A5ACD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5148072" y="2468880"/>
            <a:ext cx="1069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Foreground: low-density core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cortex + normal cancellous bone</a:t>
            </a:r>
            <a:endParaRPr lang="en-US" sz="630" dirty="0"/>
          </a:p>
          <a:p>
            <a:pPr marL="0" indent="0" algn="l">
              <a:buNone/>
            </a:pPr>
            <a:r>
              <a:rPr lang="en-US" sz="63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HU, location, rim and gradient costs</a:t>
            </a:r>
            <a:endParaRPr lang="en-US" sz="630" dirty="0"/>
          </a:p>
        </p:txBody>
      </p:sp>
      <p:sp>
        <p:nvSpPr>
          <p:cNvPr id="73" name="Shape 71"/>
          <p:cNvSpPr/>
          <p:nvPr/>
        </p:nvSpPr>
        <p:spPr>
          <a:xfrm>
            <a:off x="2103120" y="1188720"/>
            <a:ext cx="146304" cy="0"/>
          </a:xfrm>
          <a:prstGeom prst="line">
            <a:avLst/>
          </a:prstGeom>
          <a:noFill/>
          <a:ln w="11430">
            <a:solidFill>
              <a:srgbClr val="BAC4C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215384" y="1188720"/>
            <a:ext cx="146304" cy="0"/>
          </a:xfrm>
          <a:prstGeom prst="line">
            <a:avLst/>
          </a:prstGeom>
          <a:noFill/>
          <a:ln w="11430">
            <a:solidFill>
              <a:srgbClr val="BAC4C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358384" y="1920240"/>
            <a:ext cx="0" cy="91440"/>
          </a:xfrm>
          <a:prstGeom prst="line">
            <a:avLst/>
          </a:prstGeom>
          <a:noFill/>
          <a:ln w="11430">
            <a:solidFill>
              <a:srgbClr val="BAC4C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H="1">
            <a:off x="4215384" y="2734056"/>
            <a:ext cx="146304" cy="0"/>
          </a:xfrm>
          <a:prstGeom prst="line">
            <a:avLst/>
          </a:prstGeom>
          <a:noFill/>
          <a:ln w="11430">
            <a:solidFill>
              <a:srgbClr val="BAC4C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2103120" y="2734056"/>
            <a:ext cx="146304" cy="0"/>
          </a:xfrm>
          <a:prstGeom prst="line">
            <a:avLst/>
          </a:prstGeom>
          <a:noFill/>
          <a:ln w="11430">
            <a:solidFill>
              <a:srgbClr val="BAC4C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64592" y="3593592"/>
            <a:ext cx="6163056" cy="4114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BAC4C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4592" y="3630168"/>
            <a:ext cx="27432" cy="338328"/>
          </a:xfrm>
          <a:prstGeom prst="rect">
            <a:avLst/>
          </a:prstGeom>
          <a:solidFill>
            <a:srgbClr val="BAC4CA"/>
          </a:solidFill>
          <a:ln w="12700">
            <a:solidFill>
              <a:srgbClr val="BAC4CA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36393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validation: Dice · Jaccard · HD95 · average surface distance · volume difference · ICC · Bland-Altman · runtime/correction time</a:t>
            </a:r>
            <a:endParaRPr lang="en-US" sz="580" dirty="0"/>
          </a:p>
        </p:txBody>
      </p:sp>
      <p:sp>
        <p:nvSpPr>
          <p:cNvPr id="81" name="Text 79"/>
          <p:cNvSpPr/>
          <p:nvPr/>
        </p:nvSpPr>
        <p:spPr>
          <a:xfrm>
            <a:off x="4160520" y="3621024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5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use only; the experimental feature score is not a collapse probability, ARCO stage, or treatment threshold.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自定义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ONFH V3.1 research workflow</dc:title>
  <dc:subject>Anatomy-adaptive expert-reviewed ONFH ROI workflow</dc:subject>
  <dc:creator>ONFH research team</dc:creator>
  <cp:lastModifiedBy>a69891</cp:lastModifiedBy>
  <cp:revision>2</cp:revision>
  <dcterms:created xsi:type="dcterms:W3CDTF">2026-06-25T13:32:44Z</dcterms:created>
  <dcterms:modified xsi:type="dcterms:W3CDTF">2026-06-25T13:32:53Z</dcterms:modified>
</cp:coreProperties>
</file>